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953" autoAdjust="0"/>
  </p:normalViewPr>
  <p:slideViewPr>
    <p:cSldViewPr snapToGrid="0" snapToObjects="1">
      <p:cViewPr varScale="1">
        <p:scale>
          <a:sx n="152" d="100"/>
          <a:sy n="152" d="100"/>
        </p:scale>
        <p:origin x="618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1463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400">
                <a:solidFill>
                  <a:srgbClr val="F97316"/>
                </a:solidFill>
                <a:latin typeface="Consolas"/>
              </a:rPr>
              <a:t>PR  ·  PRIMEROUTE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300">
                <a:solidFill>
                  <a:srgbClr val="94A3B8"/>
                </a:solidFill>
                <a:latin typeface="Consolas"/>
              </a:rPr>
              <a:t>UK LOGISTICS  ·  DISPATCH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8FAFC"/>
                </a:solidFill>
                <a:latin typeface="Calibri"/>
              </a:rPr>
              <a:t>Plan a full day of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97316"/>
                </a:solidFill>
                <a:latin typeface="Calibri"/>
              </a:rPr>
              <a:t>in seconds, not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One platform for driver tracking, route planning, warehouse routing,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compliance and dispatch — built for carriers moving real 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50">
                <a:solidFill>
                  <a:srgbClr val="94A3B8"/>
                </a:solidFill>
                <a:latin typeface="Consolas"/>
              </a:rPr>
              <a:t>PRESENTED TO  ·  [ CARRIER NAME ]     [ DATE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200">
                <a:solidFill>
                  <a:srgbClr val="94A3B8"/>
                </a:solidFill>
                <a:latin typeface="Consolas"/>
              </a:rPr>
              <a:t>01 / 24</a:t>
            </a:r>
          </a:p>
        </p:txBody>
      </p:sp>
      <p:pic>
        <p:nvPicPr>
          <p:cNvPr id="12" name="suno-song-f39da182">
            <a:hlinkClick r:id="" action="ppaction://media"/>
            <a:extLst>
              <a:ext uri="{FF2B5EF4-FFF2-40B4-BE49-F238E27FC236}">
                <a16:creationId xmlns:a16="http://schemas.microsoft.com/office/drawing/2014/main" id="{CE10C607-1AC7-BA60-02F2-27154F4723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21947" y="6583680"/>
            <a:ext cx="203200" cy="20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4848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INTRO  ·  WHAT PRIMEROUTE PROMISES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09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Calibri"/>
              </a:rPr>
              <a:t>From hours of planning to seconds of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109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PrimeRoute was built for companies whose drivers run structured routes every day —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so the same planning work does not need to be redone by hand every morning.</a:t>
            </a:r>
          </a:p>
          <a:p>
            <a:pPr algn="l"/>
            <a:endParaRPr sz="15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Our algorithm assigns drivers to routes in seconds, weighing every variable at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2606040" cy="12344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driver → pickup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572000"/>
            <a:ext cx="2606040" cy="12344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4754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Legal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349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remaining vs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4572000"/>
            <a:ext cx="2606040" cy="12344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79" y="4754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Next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5349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what comes after this 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4572000"/>
            <a:ext cx="2606040" cy="12344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399" y="47548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Return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399" y="5349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kill the deadhead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1">
                <a:solidFill>
                  <a:srgbClr val="141C33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0">
                <a:solidFill>
                  <a:srgbClr val="F97316"/>
                </a:solidFill>
                <a:latin typeface="Consolas"/>
              </a:rPr>
              <a:t>SECTION ONE  ·  CRITICAL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The Drivers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Where every route starts — the people, the phones, and the hours behind each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DRIVERS  ·  THE PEOPLE + THE MOBILE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Drivers, paired with an app in their pocket.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The Drivers tab is the profile side of every person on the road.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It works hand-in-hand with a mobile PWA the driver installs on their phone.</a:t>
            </a:r>
          </a:p>
          <a:p>
            <a:pPr algn="l"/>
            <a:endParaRPr sz="14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The phone sends live coordinates back into PrimeRoute continuously —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so dispatch can see, in real time, where every driver sits in relation to the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next possible job.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6" y="1316736"/>
            <a:ext cx="3904488" cy="431596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6692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DRIVERS TAB  ·  IN-APP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DRIVERS  ·  WHAT THE MOBILE APP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One app. Everything a driver needs on shift.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38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Live GPS to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Coordinates stream to the platform so dispatch sees every driver on the live map.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15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Route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Address, times, stop order — the full run pushed to the phone the moment it's assigned.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REVEAL 1 OF 3  ·  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DRIVERS  ·  WHAT THE MOBILE APP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One app. Everything a driver needs on shift.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38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Live GPS to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Coordinates stream to the platform so dispatch sees every driver on the live map.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15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Route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Address, times, stop order — the full run pushed to the phone the moment it's assigned.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Delays &amp; VRID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Driver submits delays and leaves notes on the VRID they are running, without a phone call.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702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Shift &amp; hours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7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Driver sets working days, or days + hours — the planner will never book them outside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REVEAL 2 OF 3  ·  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DRIVERS  ·  WHAT THE MOBILE APP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One app. Everything a driver needs on shift.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38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Live GPS to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Coordinates stream to the platform so dispatch sees every driver on the live map.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15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Route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Address, times, stop order — the full run pushed to the phone the moment it's assigned.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Delays &amp; VRID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Driver submits delays and leaves notes on the VRID they are running, without a phone call.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702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Shift &amp; hours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7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Driver sets working days, or days + hours — the planner will never book them outside it.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474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Return-base preference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Lives in London? The planner sends them to Leicester and pairs a run back — no deadhead. Leave it blank and they can be dispatched anywhere in the country.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8521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B1122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247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Monday tacho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172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Every Monday the app requests last week's tach hours — driver confirms with one tap. No chasing.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REVEAL 3 OF 3  ·  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DRIVERS  ·  HOURS TRACKED BY THE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08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Driving hours are collected — not guessed.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PrimeRoute totals every driver's hours from the runs actually assigned plus the time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spent travelling from where they currently are to the pickup point.</a:t>
            </a:r>
          </a:p>
          <a:p>
            <a:pPr algn="l"/>
            <a:endParaRPr sz="14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That means the planner always knows how much legal headroom each driver has left —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and blocks assignments that would push them past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657600" cy="21945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Run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Every stop, every leg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from the assigned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40480"/>
            <a:ext cx="3657600" cy="21945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434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Pre-pickup 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83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Live GPS → pickup 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349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added to the daily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657600" cy="21945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4114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Weekly tach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83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Confirmed every Monday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349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cross-checked with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1">
                <a:solidFill>
                  <a:srgbClr val="141C33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0">
                <a:solidFill>
                  <a:srgbClr val="F97316"/>
                </a:solidFill>
                <a:latin typeface="Consolas"/>
              </a:rPr>
              <a:t>SECTION TWO  ·  CRITICAL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The Warehouses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The locations layer — so the platform knows where every pickup and drop-off actually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WAREHOUSES  ·  THE LOCATIONS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Now the system knows where every job begins and 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Once we have live driver coordinates, PrimeRoute needs the second half of the picture: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the pickup and drop-off points.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Every location a driver could ever visit lives in the Warehouses tab —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so the planner can measure real distance, real transit and real windows.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For Amazon carriers we've done most of the work already.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2148840" cy="12801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80+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AMAZON SITES PRE-LOADED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5120640"/>
            <a:ext cx="2148840" cy="12801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530352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8978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ADD YOUR 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120640"/>
            <a:ext cx="2377440" cy="128016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53035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Calibri"/>
              </a:rPr>
              <a:t>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897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94A3B8"/>
                </a:solidFill>
                <a:latin typeface="Consolas"/>
              </a:rPr>
              <a:t>DONE ONCE, REUSED FOREVER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6" y="1316736"/>
            <a:ext cx="3904488" cy="413308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023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54864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WAREHOUSES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PAUSE  ·  WHY THIS TWO-STEP SETUP MATTERS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Calibri"/>
              </a:rPr>
              <a:t>You do this work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Then the routes just repeat.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Drivers and warehouses are your two foundational tabs — set them up cleanly and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the daily planning that follows becomes almost automatic. The routes you receive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from customers like Amazon are repetitive by nature; PrimeRoute is built to exploit that.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1">
                <a:solidFill>
                  <a:srgbClr val="141C33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0">
                <a:solidFill>
                  <a:srgbClr val="F97316"/>
                </a:solidFill>
                <a:latin typeface="Consolas"/>
              </a:rPr>
              <a:t>SECTION THREE  ·  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Dispatch &amp;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Where the daily magic happens — upload, auto-assign, review, 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DISPATCH  ·  STEP 1  ·  UPLOAD THE ROUTES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Start with the file the customer already sends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Working with Amazon? Download the daily Excel export directly from their portal.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Upload that same file into PrimeRoute — every route lands on the dispatch board,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already parsed: origin, destination, times, VRID, equipment type.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No re-typing. No copy-paste. No spreadsheet gymnastics.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The board becomes your single view of everything that needs a driver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6" y="1316736"/>
            <a:ext cx="3904488" cy="431596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6692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DISPATCH BOARD  ·  AFTER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DISPATCH  ·  STEP 2  ·  ONE-CLICK AUTO-PLAN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Press one button. Every route gets the right driver.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The auto-planner solves the whole day at once — weighing every variable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we already introduced on the Drivers tab, simultaneously, in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101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Live driver location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33101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3200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Legal hours remaining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59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Shift &amp; availability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9959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3886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Return-base preference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817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Follow-on route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468172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4572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Calibri"/>
              </a:rPr>
              <a:t>Deadhead minimisation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371600"/>
            <a:ext cx="3794760" cy="420624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17373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0B1122"/>
                </a:solidFill>
                <a:latin typeface="Consola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1945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122"/>
                </a:solidFill>
                <a:latin typeface="Calibri"/>
              </a:rPr>
              <a:t>Every route
assigned to the
best-fit driver.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0624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B1122"/>
                </a:solidFill>
                <a:latin typeface="Calibri"/>
              </a:rPr>
              <a:t>On-time by design.</a:t>
            </a:r>
          </a:p>
          <a:p>
            <a:pPr algn="l"/>
            <a:r>
              <a:rPr sz="1400" b="0">
                <a:solidFill>
                  <a:srgbClr val="0B1122"/>
                </a:solidFill>
                <a:latin typeface="Calibri"/>
              </a:rPr>
              <a:t>Deadhead cut to the bone.</a:t>
            </a:r>
          </a:p>
          <a:p>
            <a:pPr algn="l"/>
            <a:r>
              <a:rPr sz="1400" b="0">
                <a:solidFill>
                  <a:srgbClr val="0B1122"/>
                </a:solidFill>
                <a:latin typeface="Calibri"/>
              </a:rPr>
              <a:t>No illegal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DISPATCH  ·  STEP 3  ·  FULL MANUAL CONTROL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planner is smart. You're still in charge.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Anything the algorithm does, a dispatcher can override in two clicks.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Add a route by 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88036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657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Change stops, times, driver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88036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Cancel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Pull a run instantly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Map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See the whole route drawn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57200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19" y="4846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53492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Attach context to any VRID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572000"/>
            <a:ext cx="3566160" cy="146304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59" y="4846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Re-plan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53492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Recompute after any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1">
                <a:solidFill>
                  <a:srgbClr val="141C33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0">
                <a:solidFill>
                  <a:srgbClr val="F97316"/>
                </a:solidFill>
                <a:latin typeface="Consolas"/>
              </a:rPr>
              <a:t>SECTION FOUR  ·  THE REST OF THE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Everything else, quickly.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Live map, alerts, events and an AI assistant that behaves like a senior SOP manager.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LIVE MAP  ·  SEE THE FLEET IN REAL TIME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Every driver on one map. Click for a live 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Every driver's phone is on the map, updated live.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Click a driver, then click a location — PrimeRoute calculates the transit time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between the two on the spot. Perfect for answering 'can they still make it?'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or ranking who is closest to a fresh job.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Search, filter, drill in — the map is the situational-awareness layer for the whole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6" y="1316736"/>
            <a:ext cx="3904488" cy="431596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6692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LIVE MAP  ·  FLEET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ALERTS  ·  EVENTS  ·  THE AUDIT TRAIL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Nothing slips. Everything is logged.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32120" cy="411480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F97316"/>
                </a:solidFill>
                <a:latin typeface="Consolas"/>
              </a:rPr>
              <a:t>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Only what needs your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Delays and missed windows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Hours-of-service warnings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Unassigned routes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Driver-app flags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Badge count on the sidebar so nothing quietly rots.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5532120" cy="411480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F97316"/>
                </a:solidFill>
                <a:latin typeface="Consolas"/>
              </a:rPr>
              <a:t>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A timestamped record of everything.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Who assigned what, when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Every driver status change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Every import and re-plan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Every note left on a VRID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Answers 'what happened here?' without a Slack thread.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AI ASSISTANT  ·  YOUR SOP ON DEMAND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An advanced SOP manager, on 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Every dispatcher, every new hire, gets a chat button in the sidebar.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Ask it anything about how PrimeRoute works — how planning weighs variables,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what a status means, how to fix a stuck driver, how to set up a new warehouse.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It reads from your live data and from the SOP knowledge base — so answers are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specific to your company, not generic help-desk copy.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Onboarding time drops. Escalations to management drop.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6" y="1316736"/>
            <a:ext cx="3904488" cy="431596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-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6692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AI ASSISTANT  ·  IN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0" b="1">
                <a:solidFill>
                  <a:srgbClr val="141C3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400">
                <a:solidFill>
                  <a:srgbClr val="F97316"/>
                </a:solidFill>
                <a:latin typeface="Consolas"/>
              </a:rPr>
              <a:t>SECTION FIVE  · 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Company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The short bit — who runs the account, who pays the bill.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5486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ADMIN  ·  THE OWNER'S PANEL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account owner runs it. Quietly.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 small admin surface for the person running the company account.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Create and manage team profiles (dispatchers, planners, admins)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Set roles and permissions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Handle billing, invoices and payment method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· Configure company-wide preferences and branding</a:t>
            </a:r>
          </a:p>
          <a:p>
            <a:pPr algn="l"/>
            <a:endParaRPr sz="1300" b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Set up once. Touch it rarely. Get on with the actual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976" y="1316736"/>
            <a:ext cx="3904488" cy="4315968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-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7947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56692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spc="250">
                <a:solidFill>
                  <a:srgbClr val="94A3B8"/>
                </a:solidFill>
                <a:latin typeface="Consolas"/>
              </a:rPr>
              <a:t>ADMIN  ·  BILLING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300">
                <a:solidFill>
                  <a:srgbClr val="94A3B8"/>
                </a:solidFill>
                <a:latin typeface="Consolas"/>
              </a:rPr>
              <a:t>PRIMEROUTE  ·  UK LOGISTICS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50">
                <a:solidFill>
                  <a:srgbClr val="F97316"/>
                </a:solidFill>
                <a:latin typeface="Consolas"/>
              </a:rPr>
              <a:t>RECAP  ·  HOW A DAY RUNS ON PRIMEROUTE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9525">
            <a:solidFill>
              <a:srgbClr val="273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3200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94A3B8"/>
                </a:solidFill>
                <a:latin typeface="Consolas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Five steps. One platform. Every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194560" cy="338328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514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B112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250">
                <a:solidFill>
                  <a:srgbClr val="F97316"/>
                </a:solidFill>
                <a:latin typeface="Consolas"/>
              </a:rPr>
              <a:t>SET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Drivers + Warehouses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Done once, reused forever.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94560"/>
            <a:ext cx="2194560" cy="338328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03320" y="2514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B1122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250">
                <a:solidFill>
                  <a:srgbClr val="F97316"/>
                </a:solidFill>
                <a:latin typeface="Consolas"/>
              </a:rPr>
              <a:t>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6118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Upload the 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5262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Routes hit the dispatch 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194560"/>
            <a:ext cx="2194560" cy="338328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0" y="2514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B1122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250">
                <a:solidFill>
                  <a:srgbClr val="F97316"/>
                </a:solidFill>
                <a:latin typeface="Consolas"/>
              </a:rPr>
              <a:t>AUTO-PLAN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6118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Press the button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5262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Best-fit driver on every run.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194560"/>
            <a:ext cx="2194560" cy="338328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66760" y="2514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B1122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250">
                <a:solidFill>
                  <a:srgbClr val="F97316"/>
                </a:solidFill>
                <a:latin typeface="Consolas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6118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Driver app + live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5262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Real-time visibility, on-time delivery.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2194560"/>
            <a:ext cx="2194560" cy="3383280"/>
          </a:xfrm>
          <a:prstGeom prst="roundRect">
            <a:avLst/>
          </a:prstGeom>
          <a:solidFill>
            <a:srgbClr val="14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98480" y="25146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98480" y="2514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B1122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spc="250">
                <a:solidFill>
                  <a:srgbClr val="F97316"/>
                </a:solidFill>
                <a:latin typeface="Consolas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6118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Alerts · Events ·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52628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Nothing slips, everything's logged.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Calibri"/>
              </a:rPr>
              <a:t>Hours of planning collapsed into seconds.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94A3B8"/>
                </a:solidFill>
                <a:latin typeface="Consolas"/>
              </a:rPr>
              <a:t>primeroute.uk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1463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400">
                <a:solidFill>
                  <a:srgbClr val="F97316"/>
                </a:solidFill>
                <a:latin typeface="Consolas"/>
              </a:rPr>
              <a:t>PR  ·  PRIMEROUTE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300">
                <a:solidFill>
                  <a:srgbClr val="94A3B8"/>
                </a:solidFill>
                <a:latin typeface="Consolas"/>
              </a:rPr>
              <a:t>READY WHEN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8FAFC"/>
                </a:solidFill>
                <a:latin typeface="Calibri"/>
              </a:rPr>
              <a:t>Let's plan your first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97316"/>
                </a:solidFill>
                <a:latin typeface="Calibri"/>
              </a:rPr>
              <a:t>on PrimeRoute.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Calibri"/>
              </a:rPr>
              <a:t>We'll import a real week of your routes, connect your drivers and warehouses,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Calibri"/>
              </a:rPr>
              <a:t>and show you the difference on your own data — in a single pilot session.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250">
                <a:solidFill>
                  <a:srgbClr val="94A3B8"/>
                </a:solidFill>
                <a:latin typeface="Consolas"/>
              </a:rPr>
              <a:t>PRIMEROUTE.UK  ·  HELLO@PRIMEROUTE.UK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200">
                <a:solidFill>
                  <a:srgbClr val="94A3B8"/>
                </a:solidFill>
                <a:latin typeface="Consola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1879</Words>
  <Application>Microsoft Office PowerPoint</Application>
  <PresentationFormat>Widescreen</PresentationFormat>
  <Paragraphs>310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Jaga, Ionut</cp:lastModifiedBy>
  <cp:revision>3</cp:revision>
  <dcterms:created xsi:type="dcterms:W3CDTF">2013-01-27T09:14:16Z</dcterms:created>
  <dcterms:modified xsi:type="dcterms:W3CDTF">2026-07-01T13:57:07Z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2026-07-01T13:56:33Z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d2a1203c-ec98-40f8-8487-a77e9f01c247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